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F37C8-5375-F93F-C4C3-0A4357114B3B}" v="1789" dt="2025-11-21T11:07:57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Push-relabel </a:t>
            </a:r>
            <a:r>
              <a:rPr lang="en-US" err="1">
                <a:latin typeface="Calibri"/>
                <a:ea typeface="Calibri"/>
                <a:cs typeface="Calibri"/>
              </a:rPr>
              <a:t>алгоритам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Марко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Митевски</a:t>
            </a:r>
            <a:r>
              <a:rPr lang="en-US" dirty="0">
                <a:latin typeface="Calibri"/>
                <a:ea typeface="Calibri"/>
                <a:cs typeface="Calibri"/>
              </a:rPr>
              <a:t> IV-1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F801-E99D-13FB-2315-872CCDFB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Цел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алгоритмот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67B8-5CC3-A117-A2AA-1E3B9D2F0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9332"/>
            <a:ext cx="10515600" cy="1405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Креиран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страна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Andrew Goldberg и Robert Tarjan </a:t>
            </a:r>
            <a:r>
              <a:rPr lang="en-US" dirty="0" err="1"/>
              <a:t>во</a:t>
            </a:r>
            <a:r>
              <a:rPr lang="en-US" dirty="0"/>
              <a:t> 1986, push-relabel </a:t>
            </a:r>
            <a:r>
              <a:rPr lang="en-US" dirty="0" err="1"/>
              <a:t>алгоритмот</a:t>
            </a:r>
            <a:r>
              <a:rPr lang="en-US" dirty="0"/>
              <a:t> </a:t>
            </a:r>
            <a:r>
              <a:rPr lang="en-US" dirty="0" err="1"/>
              <a:t>го</a:t>
            </a:r>
            <a:r>
              <a:rPr lang="en-US" dirty="0"/>
              <a:t> </a:t>
            </a:r>
            <a:r>
              <a:rPr lang="en-US" dirty="0" err="1"/>
              <a:t>наоѓа</a:t>
            </a:r>
            <a:r>
              <a:rPr lang="en-US" dirty="0"/>
              <a:t> </a:t>
            </a:r>
            <a:r>
              <a:rPr lang="en-US" dirty="0" err="1"/>
              <a:t>максималниот</a:t>
            </a:r>
            <a:r>
              <a:rPr lang="en-US" dirty="0"/>
              <a:t> </a:t>
            </a:r>
            <a:r>
              <a:rPr lang="en-US" dirty="0" err="1"/>
              <a:t>проток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дадена</a:t>
            </a:r>
            <a:r>
              <a:rPr lang="en-US" dirty="0"/>
              <a:t> </a:t>
            </a:r>
            <a:r>
              <a:rPr lang="en-US" dirty="0" err="1"/>
              <a:t>проточна</a:t>
            </a:r>
            <a:r>
              <a:rPr lang="en-US" dirty="0"/>
              <a:t> </a:t>
            </a:r>
            <a:r>
              <a:rPr lang="en-US" dirty="0" err="1"/>
              <a:t>мрежа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315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18B3-D385-1300-6454-B76014D8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Начин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работа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84BE-B61E-F387-C7F6-769231BD3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5405"/>
            <a:ext cx="10515600" cy="28923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Push-relabel </a:t>
            </a:r>
            <a:r>
              <a:rPr lang="en-US" dirty="0" err="1"/>
              <a:t>алгоритмот</a:t>
            </a:r>
            <a:r>
              <a:rPr lang="en-US" dirty="0"/>
              <a:t> 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темињата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графот</a:t>
            </a:r>
            <a:r>
              <a:rPr lang="en-US" dirty="0"/>
              <a:t> 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придружува</a:t>
            </a:r>
            <a:r>
              <a:rPr lang="en-US" dirty="0"/>
              <a:t> </a:t>
            </a:r>
            <a:r>
              <a:rPr lang="en-US" dirty="0" err="1"/>
              <a:t>броеви</a:t>
            </a:r>
            <a:r>
              <a:rPr lang="en-US" dirty="0"/>
              <a:t> </a:t>
            </a:r>
            <a:r>
              <a:rPr lang="en-US" dirty="0" err="1"/>
              <a:t>кои</a:t>
            </a:r>
            <a:r>
              <a:rPr lang="en-US" dirty="0"/>
              <a:t> </a:t>
            </a:r>
            <a:r>
              <a:rPr lang="en-US" dirty="0" err="1"/>
              <a:t>ја</a:t>
            </a:r>
            <a:r>
              <a:rPr lang="en-US" dirty="0"/>
              <a:t> </a:t>
            </a:r>
            <a:r>
              <a:rPr lang="en-US" dirty="0" err="1"/>
              <a:t>означуваат</a:t>
            </a:r>
            <a:r>
              <a:rPr lang="en-US" dirty="0"/>
              <a:t> </a:t>
            </a:r>
            <a:r>
              <a:rPr lang="en-US" dirty="0" err="1"/>
              <a:t>нивната</a:t>
            </a:r>
            <a:r>
              <a:rPr lang="en-US" dirty="0"/>
              <a:t> </a:t>
            </a:r>
            <a:r>
              <a:rPr lang="en-US" dirty="0" err="1"/>
              <a:t>висина</a:t>
            </a:r>
            <a:r>
              <a:rPr lang="en-US" dirty="0"/>
              <a:t>.</a:t>
            </a:r>
          </a:p>
          <a:p>
            <a:r>
              <a:rPr lang="en-US" err="1"/>
              <a:t>Дозволува</a:t>
            </a:r>
            <a:r>
              <a:rPr lang="en-US" dirty="0"/>
              <a:t> </a:t>
            </a:r>
            <a:r>
              <a:rPr lang="en-US" err="1"/>
              <a:t>во</a:t>
            </a:r>
            <a:r>
              <a:rPr lang="en-US" dirty="0"/>
              <a:t> </a:t>
            </a:r>
            <a:r>
              <a:rPr lang="en-US" err="1"/>
              <a:t>теме</a:t>
            </a:r>
            <a:r>
              <a:rPr lang="en-US" dirty="0"/>
              <a:t> </a:t>
            </a:r>
            <a:r>
              <a:rPr lang="en-US" err="1"/>
              <a:t>количеството</a:t>
            </a:r>
            <a:r>
              <a:rPr lang="en-US" dirty="0"/>
              <a:t> </a:t>
            </a:r>
            <a:r>
              <a:rPr lang="en-US" err="1"/>
              <a:t>што</a:t>
            </a:r>
            <a:r>
              <a:rPr lang="en-US" dirty="0"/>
              <a:t> </a:t>
            </a:r>
            <a:r>
              <a:rPr lang="en-US" err="1"/>
              <a:t>влегува</a:t>
            </a:r>
            <a:r>
              <a:rPr lang="en-US" dirty="0"/>
              <a:t> </a:t>
            </a:r>
            <a:r>
              <a:rPr lang="en-US" err="1"/>
              <a:t>во</a:t>
            </a:r>
            <a:r>
              <a:rPr lang="en-US" dirty="0"/>
              <a:t> </a:t>
            </a:r>
            <a:r>
              <a:rPr lang="en-US" err="1"/>
              <a:t>него</a:t>
            </a:r>
            <a:r>
              <a:rPr lang="en-US" dirty="0"/>
              <a:t> </a:t>
            </a:r>
            <a:r>
              <a:rPr lang="en-US" err="1"/>
              <a:t>да</a:t>
            </a:r>
            <a:r>
              <a:rPr lang="en-US" dirty="0"/>
              <a:t> е </a:t>
            </a:r>
            <a:r>
              <a:rPr lang="en-US" err="1"/>
              <a:t>поголемо</a:t>
            </a:r>
            <a:r>
              <a:rPr lang="en-US" dirty="0"/>
              <a:t> </a:t>
            </a:r>
            <a:r>
              <a:rPr lang="en-US" err="1"/>
              <a:t>од</a:t>
            </a:r>
            <a:r>
              <a:rPr lang="en-US" dirty="0"/>
              <a:t> </a:t>
            </a:r>
            <a:r>
              <a:rPr lang="en-US" err="1"/>
              <a:t>она</a:t>
            </a:r>
            <a:r>
              <a:rPr lang="en-US" dirty="0"/>
              <a:t> </a:t>
            </a:r>
            <a:r>
              <a:rPr lang="en-US" err="1"/>
              <a:t>што</a:t>
            </a:r>
            <a:r>
              <a:rPr lang="en-US" dirty="0"/>
              <a:t> </a:t>
            </a:r>
            <a:r>
              <a:rPr lang="en-US" err="1"/>
              <a:t>излегува</a:t>
            </a:r>
            <a:r>
              <a:rPr lang="en-US" dirty="0"/>
              <a:t>.</a:t>
            </a:r>
          </a:p>
          <a:p>
            <a:r>
              <a:rPr lang="en-US" dirty="0" err="1"/>
              <a:t>Вишокот</a:t>
            </a:r>
            <a:r>
              <a:rPr lang="en-US" dirty="0"/>
              <a:t> </a:t>
            </a:r>
            <a:r>
              <a:rPr lang="en-US" dirty="0" err="1"/>
              <a:t>потоа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пренесува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другите</a:t>
            </a:r>
            <a:r>
              <a:rPr lang="en-US" dirty="0"/>
              <a:t> </a:t>
            </a:r>
            <a:r>
              <a:rPr lang="en-US" dirty="0" err="1"/>
              <a:t>темиња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цел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стигне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сливникот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071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2627-5448-DAE9-E1F3-47C18764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Концепти</a:t>
            </a:r>
            <a:r>
              <a:rPr lang="en-US" dirty="0">
                <a:latin typeface="Calibri"/>
                <a:ea typeface="Calibri"/>
                <a:cs typeface="Calibri"/>
              </a:rPr>
              <a:t> и </a:t>
            </a:r>
            <a:r>
              <a:rPr lang="en-US" dirty="0" err="1">
                <a:latin typeface="Calibri"/>
                <a:ea typeface="Calibri"/>
                <a:cs typeface="Calibri"/>
              </a:rPr>
              <a:t>ознаки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E1B9-8966-8556-258A-DFA7D68FF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9649"/>
            <a:ext cx="10515600" cy="29946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G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= 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мрежа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со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функција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капацитет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: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×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→ R</a:t>
            </a:r>
            <a:r>
              <a:rPr lang="en-US" sz="2000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∞</a:t>
            </a:r>
            <a:endParaRPr lang="en-US" sz="2000" dirty="0">
              <a:solidFill>
                <a:srgbClr val="202122"/>
              </a:solidFill>
              <a:latin typeface="Aptos"/>
              <a:ea typeface="Calibri"/>
              <a:cs typeface="Calibri"/>
            </a:endParaRPr>
          </a:p>
          <a:p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= 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G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проточна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мрежа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∈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∈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 </a:t>
            </a:r>
            <a:r>
              <a:rPr lang="en-US" sz="2000" i="1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извор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и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сливник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соодветно</a:t>
            </a:r>
            <a:endParaRPr lang="en-US" sz="2000" dirty="0" err="1">
              <a:solidFill>
                <a:srgbClr val="202122"/>
              </a:solidFill>
              <a:latin typeface="Aptos"/>
              <a:ea typeface="Calibri"/>
              <a:cs typeface="Calibri"/>
            </a:endParaRPr>
          </a:p>
          <a:p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: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×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→ R pre-flow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во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endParaRPr lang="en-US" sz="2000" dirty="0">
              <a:solidFill>
                <a:srgbClr val="202122"/>
              </a:solidFill>
              <a:latin typeface="Aptos"/>
              <a:ea typeface="Calibri"/>
              <a:cs typeface="Calibri"/>
            </a:endParaRPr>
          </a:p>
          <a:p>
            <a:r>
              <a:rPr lang="en-US" sz="2000" i="1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: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→ R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excess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функција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дефинирана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со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u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 =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Σ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∈ </a:t>
            </a:r>
            <a:r>
              <a:rPr lang="en-US" sz="2000" i="1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u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 −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Σ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∈ </a:t>
            </a:r>
            <a:r>
              <a:rPr lang="en-US" sz="2000" i="1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u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),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i="1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: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×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→ R</a:t>
            </a:r>
            <a:r>
              <a:rPr lang="en-US" sz="2000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∞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функција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residual capacity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дефинирана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со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2000" i="1" baseline="-25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 =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 −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(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),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i="1" baseline="-25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⊂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множество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ребра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каде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f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 &lt; </a:t>
            </a:r>
            <a:r>
              <a:rPr lang="en-US" sz="2000" i="1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capacity</a:t>
            </a:r>
          </a:p>
          <a:p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𝓁(u)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висина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теме</a:t>
            </a:r>
            <a:r>
              <a:rPr lang="en-US" sz="2000" dirty="0">
                <a:solidFill>
                  <a:srgbClr val="202122"/>
                </a:solidFill>
                <a:latin typeface="Calibri"/>
                <a:ea typeface="+mn-lt"/>
                <a:cs typeface="+mn-lt"/>
              </a:rPr>
              <a:t> u</a:t>
            </a:r>
          </a:p>
          <a:p>
            <a:endParaRPr lang="en-US" sz="2000" i="1" dirty="0">
              <a:solidFill>
                <a:srgbClr val="20212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832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F907-8504-DC84-CFEC-1625362F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Чекори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алгоритмот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7842-085E-632D-A72A-FBB45F210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112"/>
            <a:ext cx="10515600" cy="33198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На</a:t>
            </a:r>
            <a:r>
              <a:rPr lang="en-US" dirty="0"/>
              <a:t> </a:t>
            </a:r>
            <a:r>
              <a:rPr lang="en-US" err="1"/>
              <a:t>почеток</a:t>
            </a:r>
            <a:r>
              <a:rPr lang="en-US" dirty="0"/>
              <a:t> </a:t>
            </a:r>
            <a:r>
              <a:rPr lang="en-US" err="1"/>
              <a:t>се</a:t>
            </a:r>
            <a:r>
              <a:rPr lang="en-US" dirty="0"/>
              <a:t> </a:t>
            </a:r>
            <a:r>
              <a:rPr lang="en-US" err="1"/>
              <a:t>поставуваат</a:t>
            </a:r>
            <a:r>
              <a:rPr lang="en-US" dirty="0"/>
              <a:t> </a:t>
            </a:r>
            <a:r>
              <a:rPr lang="en-US" err="1"/>
              <a:t>висината</a:t>
            </a:r>
            <a:r>
              <a:rPr lang="en-US" dirty="0"/>
              <a:t> </a:t>
            </a:r>
            <a:r>
              <a:rPr lang="en-US" err="1"/>
              <a:t>на</a:t>
            </a:r>
            <a:r>
              <a:rPr lang="en-US" dirty="0"/>
              <a:t> </a:t>
            </a:r>
            <a:r>
              <a:rPr lang="en-US" err="1"/>
              <a:t>изворот</a:t>
            </a:r>
            <a:r>
              <a:rPr lang="en-US" dirty="0"/>
              <a:t> 𝓁(s) = | V | и </a:t>
            </a:r>
            <a:r>
              <a:rPr lang="en-US" err="1"/>
              <a:t>висините</a:t>
            </a:r>
            <a:r>
              <a:rPr lang="en-US" dirty="0"/>
              <a:t> </a:t>
            </a:r>
            <a:r>
              <a:rPr lang="en-US" err="1"/>
              <a:t>на</a:t>
            </a:r>
            <a:r>
              <a:rPr lang="en-US" dirty="0"/>
              <a:t> </a:t>
            </a:r>
            <a:r>
              <a:rPr lang="en-US" err="1"/>
              <a:t>останатите</a:t>
            </a:r>
            <a:r>
              <a:rPr lang="en-US" dirty="0"/>
              <a:t> </a:t>
            </a:r>
            <a:r>
              <a:rPr lang="en-US" err="1"/>
              <a:t>темиња</a:t>
            </a:r>
            <a:r>
              <a:rPr lang="en-US" dirty="0"/>
              <a:t> 𝓁(u) = 0</a:t>
            </a:r>
          </a:p>
          <a:p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изворот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пушта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 </a:t>
            </a:r>
            <a:r>
              <a:rPr lang="en-US" dirty="0" err="1"/>
              <a:t>кон</a:t>
            </a:r>
            <a:r>
              <a:rPr lang="en-US" dirty="0"/>
              <a:t> </a:t>
            </a:r>
            <a:r>
              <a:rPr lang="en-US" dirty="0" err="1"/>
              <a:t>соседните</a:t>
            </a:r>
            <a:r>
              <a:rPr lang="en-US" dirty="0"/>
              <a:t> </a:t>
            </a:r>
            <a:r>
              <a:rPr lang="en-US" dirty="0" err="1"/>
              <a:t>темиња</a:t>
            </a:r>
            <a:r>
              <a:rPr lang="en-US" dirty="0"/>
              <a:t> </a:t>
            </a:r>
            <a:r>
              <a:rPr lang="en-US" dirty="0" err="1"/>
              <a:t>што</a:t>
            </a:r>
            <a:r>
              <a:rPr lang="en-US" dirty="0"/>
              <a:t> </a:t>
            </a:r>
            <a:r>
              <a:rPr lang="en-US" dirty="0" err="1"/>
              <a:t>целосно</a:t>
            </a:r>
            <a:r>
              <a:rPr lang="en-US" dirty="0"/>
              <a:t> </a:t>
            </a:r>
            <a:r>
              <a:rPr lang="en-US" dirty="0" err="1"/>
              <a:t>ги</a:t>
            </a:r>
            <a:r>
              <a:rPr lang="en-US" dirty="0"/>
              <a:t> </a:t>
            </a:r>
            <a:r>
              <a:rPr lang="en-US" dirty="0" err="1"/>
              <a:t>искористува</a:t>
            </a:r>
            <a:r>
              <a:rPr lang="en-US" dirty="0"/>
              <a:t> </a:t>
            </a:r>
            <a:r>
              <a:rPr lang="en-US" dirty="0" err="1"/>
              <a:t>неговите</a:t>
            </a:r>
            <a:r>
              <a:rPr lang="en-US" dirty="0"/>
              <a:t> </a:t>
            </a:r>
            <a:r>
              <a:rPr lang="en-US" dirty="0" err="1"/>
              <a:t>излезни</a:t>
            </a:r>
            <a:r>
              <a:rPr lang="en-US" dirty="0"/>
              <a:t> </a:t>
            </a:r>
            <a:r>
              <a:rPr lang="en-US" dirty="0" err="1"/>
              <a:t>ребра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92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8D9D-D1C1-2FF3-1AAF-251C3406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Чекори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алгоритмот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9BCB1-F7E5-6693-EF84-C9BFA4AFC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4698"/>
            <a:ext cx="10515600" cy="3459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чуваат</a:t>
            </a:r>
            <a:r>
              <a:rPr lang="en-US" dirty="0"/>
              <a:t> </a:t>
            </a:r>
            <a:r>
              <a:rPr lang="en-US" dirty="0" err="1"/>
              <a:t>сите</a:t>
            </a:r>
            <a:r>
              <a:rPr lang="en-US" dirty="0"/>
              <a:t> </a:t>
            </a:r>
            <a:r>
              <a:rPr lang="en-US" dirty="0" err="1"/>
              <a:t>темиња</a:t>
            </a:r>
            <a:r>
              <a:rPr lang="en-US" dirty="0"/>
              <a:t> u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кои</a:t>
            </a:r>
            <a:r>
              <a:rPr lang="en-US" dirty="0"/>
              <a:t> </a:t>
            </a:r>
            <a:r>
              <a:rPr lang="en-US" i="1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i="1" baseline="-25000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 (</a:t>
            </a:r>
            <a:r>
              <a:rPr lang="en-US" i="1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)&gt;0,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подредени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од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она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најголема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до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она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најмала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висина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  <a:p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За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секое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такво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теме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доколку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е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можно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се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пренесува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од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вишокот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соседните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темиња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со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помала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висина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.</a:t>
            </a:r>
          </a:p>
          <a:p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Доколку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не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можно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неговата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висина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се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зголемува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.</a:t>
            </a:r>
          </a:p>
          <a:p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Крајниот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резултат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е </a:t>
            </a:r>
            <a:r>
              <a:rPr lang="en-US" i="1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900" i="1" baseline="-25000" dirty="0" err="1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dirty="0">
                <a:solidFill>
                  <a:srgbClr val="202122"/>
                </a:solidFill>
                <a:latin typeface="Calibri"/>
                <a:ea typeface="Calibri"/>
                <a:cs typeface="Calibri"/>
              </a:rPr>
              <a:t> (t).</a:t>
            </a:r>
          </a:p>
        </p:txBody>
      </p:sp>
    </p:spTree>
    <p:extLst>
      <p:ext uri="{BB962C8B-B14F-4D97-AF65-F5344CB8AC3E}">
        <p14:creationId xmlns:p14="http://schemas.microsoft.com/office/powerpoint/2010/main" val="395771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DDF1-A262-0157-9C1D-F4394C04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Push и relabel </a:t>
            </a:r>
            <a:r>
              <a:rPr lang="en-US" dirty="0" err="1">
                <a:latin typeface="Calibri"/>
                <a:ea typeface="Calibri"/>
                <a:cs typeface="Calibri"/>
              </a:rPr>
              <a:t>функции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749A0-021A-5140-2CDC-720553D0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2868"/>
            <a:ext cx="10515600" cy="201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Push: </a:t>
            </a:r>
            <a:r>
              <a:rPr lang="en-US" dirty="0" err="1"/>
              <a:t>пренесување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вишокот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кон</a:t>
            </a:r>
            <a:r>
              <a:rPr lang="en-US" dirty="0"/>
              <a:t> </a:t>
            </a:r>
            <a:r>
              <a:rPr lang="en-US" dirty="0" err="1"/>
              <a:t>темиња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висина</a:t>
            </a:r>
            <a:r>
              <a:rPr lang="en-US" dirty="0"/>
              <a:t> </a:t>
            </a:r>
            <a:r>
              <a:rPr lang="en-US" dirty="0" err="1"/>
              <a:t>помала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1.</a:t>
            </a:r>
          </a:p>
          <a:p>
            <a:r>
              <a:rPr lang="en-US" dirty="0"/>
              <a:t>Relabel: </a:t>
            </a:r>
            <a:r>
              <a:rPr lang="en-US" dirty="0" err="1"/>
              <a:t>промена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висината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 </a:t>
            </a:r>
            <a:r>
              <a:rPr lang="en-US" dirty="0" err="1"/>
              <a:t>некое</a:t>
            </a:r>
            <a:r>
              <a:rPr lang="en-US" dirty="0"/>
              <a:t> </a:t>
            </a:r>
            <a:r>
              <a:rPr lang="en-US" dirty="0" err="1"/>
              <a:t>теме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најмалата</a:t>
            </a:r>
            <a:r>
              <a:rPr lang="en-US" dirty="0"/>
              <a:t> </a:t>
            </a:r>
            <a:r>
              <a:rPr lang="en-US" dirty="0" err="1"/>
              <a:t>висина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неговите</a:t>
            </a:r>
            <a:r>
              <a:rPr lang="en-US" dirty="0"/>
              <a:t> </a:t>
            </a:r>
            <a:r>
              <a:rPr lang="en-US" dirty="0" err="1"/>
              <a:t>соседи</a:t>
            </a:r>
            <a:r>
              <a:rPr lang="en-US" dirty="0"/>
              <a:t>, </a:t>
            </a:r>
            <a:r>
              <a:rPr lang="en-US" dirty="0" err="1"/>
              <a:t>зголемена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335382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B314-2A85-F3D4-C5F9-EFCF2819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Терминирање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алгоритмот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BA18-5858-3413-4D7E-DF6BB21D5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8623"/>
            <a:ext cx="10515600" cy="24184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Алгоритмот</a:t>
            </a:r>
            <a:r>
              <a:rPr lang="en-US" dirty="0"/>
              <a:t> </a:t>
            </a:r>
            <a:r>
              <a:rPr lang="en-US" dirty="0" err="1"/>
              <a:t>терминира</a:t>
            </a:r>
            <a:r>
              <a:rPr lang="en-US" dirty="0"/>
              <a:t> </a:t>
            </a:r>
            <a:r>
              <a:rPr lang="en-US" dirty="0" err="1"/>
              <a:t>кога</a:t>
            </a:r>
            <a:r>
              <a:rPr lang="en-US" dirty="0"/>
              <a:t> </a:t>
            </a:r>
            <a:r>
              <a:rPr lang="en-US" dirty="0" err="1"/>
              <a:t>нема</a:t>
            </a:r>
            <a:r>
              <a:rPr lang="en-US" dirty="0"/>
              <a:t> </a:t>
            </a:r>
            <a:r>
              <a:rPr lang="en-US" dirty="0" err="1"/>
              <a:t>пат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s(</a:t>
            </a:r>
            <a:r>
              <a:rPr lang="en-US" dirty="0" err="1"/>
              <a:t>извор</a:t>
            </a:r>
            <a:r>
              <a:rPr lang="en-US" dirty="0"/>
              <a:t>) </a:t>
            </a:r>
            <a:r>
              <a:rPr lang="en-US" dirty="0" err="1"/>
              <a:t>до</a:t>
            </a:r>
            <a:r>
              <a:rPr lang="en-US" dirty="0"/>
              <a:t> t(</a:t>
            </a:r>
            <a:r>
              <a:rPr lang="en-US" dirty="0" err="1"/>
              <a:t>сливник</a:t>
            </a:r>
            <a:r>
              <a:rPr lang="en-US" dirty="0"/>
              <a:t>), </a:t>
            </a:r>
            <a:r>
              <a:rPr lang="en-US" dirty="0" err="1"/>
              <a:t>односно</a:t>
            </a:r>
            <a:r>
              <a:rPr lang="en-US" dirty="0"/>
              <a:t> </a:t>
            </a:r>
            <a:r>
              <a:rPr lang="en-US" dirty="0" err="1"/>
              <a:t>кога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секои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соседи</a:t>
            </a:r>
            <a:r>
              <a:rPr lang="en-US" dirty="0"/>
              <a:t> u и v </a:t>
            </a:r>
            <a:r>
              <a:rPr lang="en-US" dirty="0" err="1"/>
              <a:t>важи</a:t>
            </a:r>
            <a:endParaRPr lang="en-US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   𝓁(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u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 ≤ 𝓁(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v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 + 1</a:t>
            </a:r>
            <a:endParaRPr lang="en-US" dirty="0"/>
          </a:p>
          <a:p>
            <a:r>
              <a:rPr lang="en-US" dirty="0" err="1"/>
              <a:t>Додека</a:t>
            </a:r>
            <a:r>
              <a:rPr lang="en-US" dirty="0"/>
              <a:t> </a:t>
            </a:r>
            <a:r>
              <a:rPr lang="en-US" dirty="0" err="1"/>
              <a:t>има</a:t>
            </a:r>
            <a:r>
              <a:rPr lang="en-US" dirty="0"/>
              <a:t> </a:t>
            </a:r>
            <a:r>
              <a:rPr lang="en-US" dirty="0" err="1"/>
              <a:t>пат</a:t>
            </a:r>
            <a:r>
              <a:rPr lang="en-US" dirty="0"/>
              <a:t> s-t </a:t>
            </a:r>
            <a:r>
              <a:rPr lang="en-US" dirty="0" err="1"/>
              <a:t>претходниот</a:t>
            </a:r>
            <a:r>
              <a:rPr lang="en-US" dirty="0"/>
              <a:t> </a:t>
            </a:r>
            <a:r>
              <a:rPr lang="en-US" dirty="0" err="1"/>
              <a:t>услов</a:t>
            </a:r>
            <a:r>
              <a:rPr lang="en-US" dirty="0"/>
              <a:t> </a:t>
            </a:r>
            <a:r>
              <a:rPr lang="en-US" dirty="0" err="1"/>
              <a:t>нема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е </a:t>
            </a:r>
            <a:r>
              <a:rPr lang="en-US" dirty="0" err="1"/>
              <a:t>задоволен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1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0A3D-7943-73A7-B9CF-652D005B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Временска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комплексност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EC7C-F5F5-5495-1AAC-F3E14C9B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941"/>
            <a:ext cx="10515600" cy="2399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O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V</a:t>
            </a:r>
            <a:r>
              <a:rPr lang="en-US" baseline="30000" dirty="0">
                <a:solidFill>
                  <a:srgbClr val="202122"/>
                </a:solidFill>
                <a:ea typeface="+mn-lt"/>
                <a:cs typeface="+mn-lt"/>
              </a:rPr>
              <a:t> 2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 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за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relabel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функција</a:t>
            </a:r>
            <a:endParaRPr lang="en-US" dirty="0">
              <a:solidFill>
                <a:srgbClr val="202122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O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VE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за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push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функција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што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целосно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искористува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ребро</a:t>
            </a:r>
            <a:endParaRPr lang="en-US" dirty="0">
              <a:solidFill>
                <a:srgbClr val="202122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O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V</a:t>
            </a:r>
            <a:r>
              <a:rPr lang="en-US" baseline="30000" dirty="0">
                <a:solidFill>
                  <a:srgbClr val="202122"/>
                </a:solidFill>
                <a:ea typeface="+mn-lt"/>
                <a:cs typeface="+mn-lt"/>
              </a:rPr>
              <a:t> 2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E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за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push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функција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што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не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целосно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искористува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202122"/>
                </a:solidFill>
                <a:ea typeface="+mn-lt"/>
                <a:cs typeface="+mn-lt"/>
              </a:rPr>
              <a:t>ребро</a:t>
            </a:r>
            <a:endParaRPr lang="en-US">
              <a:solidFill>
                <a:srgbClr val="202122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O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(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V</a:t>
            </a:r>
            <a:r>
              <a:rPr lang="en-US" baseline="30000" dirty="0">
                <a:solidFill>
                  <a:srgbClr val="202122"/>
                </a:solidFill>
                <a:ea typeface="+mn-lt"/>
                <a:cs typeface="+mn-lt"/>
              </a:rPr>
              <a:t> 2</a:t>
            </a:r>
            <a:r>
              <a:rPr lang="en-US" i="1" dirty="0">
                <a:solidFill>
                  <a:srgbClr val="202122"/>
                </a:solidFill>
                <a:ea typeface="+mn-lt"/>
                <a:cs typeface="+mn-lt"/>
              </a:rPr>
              <a:t>E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временска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комплексност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на</a:t>
            </a:r>
            <a:r>
              <a:rPr lang="en-US" dirty="0">
                <a:solidFill>
                  <a:srgbClr val="20212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02122"/>
                </a:solidFill>
                <a:ea typeface="+mn-lt"/>
                <a:cs typeface="+mn-lt"/>
              </a:rPr>
              <a:t>алгоритмот</a:t>
            </a:r>
            <a:endParaRPr lang="en-US" dirty="0" err="1">
              <a:solidFill>
                <a:srgbClr val="2021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2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4135-BBEA-3F28-B5F9-C79A0FD7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Споредба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со</a:t>
            </a:r>
            <a:r>
              <a:rPr lang="en-US" dirty="0">
                <a:latin typeface="Calibri"/>
                <a:ea typeface="Calibri"/>
                <a:cs typeface="Calibri"/>
              </a:rPr>
              <a:t> Dinitz и Edmond-Karp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DA9F-CF76-6601-54F6-B5C99FBC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2957"/>
            <a:ext cx="10515600" cy="30813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solidFill>
                  <a:srgbClr val="202122"/>
                </a:solidFill>
              </a:rPr>
              <a:t>O</a:t>
            </a:r>
            <a:r>
              <a:rPr lang="en-US" dirty="0">
                <a:solidFill>
                  <a:srgbClr val="202122"/>
                </a:solidFill>
              </a:rPr>
              <a:t>(</a:t>
            </a:r>
            <a:r>
              <a:rPr lang="en-US" i="1" dirty="0">
                <a:solidFill>
                  <a:srgbClr val="202122"/>
                </a:solidFill>
              </a:rPr>
              <a:t>V</a:t>
            </a:r>
            <a:r>
              <a:rPr lang="en-US" sz="1900" baseline="30000" dirty="0">
                <a:solidFill>
                  <a:srgbClr val="202122"/>
                </a:solidFill>
              </a:rPr>
              <a:t> 2</a:t>
            </a:r>
            <a:r>
              <a:rPr lang="en-US" i="1" dirty="0">
                <a:solidFill>
                  <a:srgbClr val="202122"/>
                </a:solidFill>
              </a:rPr>
              <a:t>E</a:t>
            </a:r>
            <a:r>
              <a:rPr lang="en-US" dirty="0">
                <a:solidFill>
                  <a:srgbClr val="202122"/>
                </a:solidFill>
              </a:rPr>
              <a:t>) </a:t>
            </a:r>
            <a:r>
              <a:rPr lang="en-US" dirty="0" err="1">
                <a:solidFill>
                  <a:srgbClr val="202122"/>
                </a:solidFill>
              </a:rPr>
              <a:t>временска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комплексност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на</a:t>
            </a:r>
            <a:r>
              <a:rPr lang="en-US" dirty="0">
                <a:solidFill>
                  <a:srgbClr val="202122"/>
                </a:solidFill>
              </a:rPr>
              <a:t> Dinitz</a:t>
            </a:r>
          </a:p>
          <a:p>
            <a:r>
              <a:rPr lang="en-US" i="1" dirty="0">
                <a:solidFill>
                  <a:srgbClr val="202122"/>
                </a:solidFill>
              </a:rPr>
              <a:t>O</a:t>
            </a:r>
            <a:r>
              <a:rPr lang="en-US" dirty="0">
                <a:solidFill>
                  <a:srgbClr val="202122"/>
                </a:solidFill>
              </a:rPr>
              <a:t>(E</a:t>
            </a:r>
            <a:r>
              <a:rPr lang="en-US" sz="1300" baseline="30000" dirty="0">
                <a:solidFill>
                  <a:srgbClr val="202122"/>
                </a:solidFill>
              </a:rPr>
              <a:t> 2</a:t>
            </a:r>
            <a:r>
              <a:rPr lang="en-US" dirty="0">
                <a:solidFill>
                  <a:srgbClr val="202122"/>
                </a:solidFill>
              </a:rPr>
              <a:t>V) </a:t>
            </a:r>
            <a:r>
              <a:rPr lang="en-US" dirty="0" err="1">
                <a:solidFill>
                  <a:srgbClr val="202122"/>
                </a:solidFill>
              </a:rPr>
              <a:t>временска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комплексност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на</a:t>
            </a:r>
            <a:r>
              <a:rPr lang="en-US" dirty="0">
                <a:solidFill>
                  <a:srgbClr val="202122"/>
                </a:solidFill>
              </a:rPr>
              <a:t> Edmonds Karp</a:t>
            </a:r>
          </a:p>
          <a:p>
            <a:r>
              <a:rPr lang="en-US" dirty="0">
                <a:solidFill>
                  <a:srgbClr val="202122"/>
                </a:solidFill>
              </a:rPr>
              <a:t>Push-relabel </a:t>
            </a:r>
            <a:r>
              <a:rPr lang="en-US" dirty="0" err="1">
                <a:solidFill>
                  <a:srgbClr val="202122"/>
                </a:solidFill>
              </a:rPr>
              <a:t>користи</a:t>
            </a:r>
            <a:r>
              <a:rPr lang="en-US" dirty="0">
                <a:solidFill>
                  <a:srgbClr val="202122"/>
                </a:solidFill>
              </a:rPr>
              <a:t> </a:t>
            </a:r>
            <a:r>
              <a:rPr lang="en-US" dirty="0" err="1">
                <a:solidFill>
                  <a:srgbClr val="202122"/>
                </a:solidFill>
              </a:rPr>
              <a:t>приоритетен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ред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за</a:t>
            </a:r>
            <a:r>
              <a:rPr lang="en-US" dirty="0">
                <a:solidFill>
                  <a:srgbClr val="202122"/>
                </a:solidFill>
              </a:rPr>
              <a:t> </a:t>
            </a:r>
            <a:r>
              <a:rPr lang="en-US" dirty="0" err="1">
                <a:solidFill>
                  <a:srgbClr val="202122"/>
                </a:solidFill>
              </a:rPr>
              <a:t>подредување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по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висина</a:t>
            </a:r>
            <a:r>
              <a:rPr lang="en-US" dirty="0">
                <a:solidFill>
                  <a:srgbClr val="202122"/>
                </a:solidFill>
              </a:rPr>
              <a:t>, Dinitz </a:t>
            </a:r>
            <a:r>
              <a:rPr lang="en-US" dirty="0" err="1">
                <a:solidFill>
                  <a:srgbClr val="202122"/>
                </a:solidFill>
              </a:rPr>
              <a:t>користи</a:t>
            </a:r>
            <a:r>
              <a:rPr lang="en-US" dirty="0">
                <a:solidFill>
                  <a:srgbClr val="202122"/>
                </a:solidFill>
              </a:rPr>
              <a:t> BFS и DFS, Edmonds Karp </a:t>
            </a:r>
            <a:r>
              <a:rPr lang="en-US" dirty="0" err="1">
                <a:solidFill>
                  <a:srgbClr val="202122"/>
                </a:solidFill>
              </a:rPr>
              <a:t>користи</a:t>
            </a:r>
            <a:r>
              <a:rPr lang="en-US" dirty="0">
                <a:solidFill>
                  <a:srgbClr val="202122"/>
                </a:solidFill>
              </a:rPr>
              <a:t> BFS</a:t>
            </a:r>
          </a:p>
          <a:p>
            <a:r>
              <a:rPr lang="en-US" dirty="0">
                <a:solidFill>
                  <a:srgbClr val="202122"/>
                </a:solidFill>
              </a:rPr>
              <a:t>Push-relabel </a:t>
            </a:r>
            <a:r>
              <a:rPr lang="en-US" dirty="0" err="1">
                <a:solidFill>
                  <a:srgbClr val="202122"/>
                </a:solidFill>
              </a:rPr>
              <a:t>дозволува</a:t>
            </a:r>
            <a:r>
              <a:rPr lang="en-US" dirty="0">
                <a:solidFill>
                  <a:srgbClr val="202122"/>
                </a:solidFill>
              </a:rPr>
              <a:t> </a:t>
            </a:r>
            <a:r>
              <a:rPr lang="en-US" dirty="0" err="1">
                <a:solidFill>
                  <a:srgbClr val="202122"/>
                </a:solidFill>
              </a:rPr>
              <a:t>да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не</a:t>
            </a:r>
            <a:r>
              <a:rPr lang="en-US" dirty="0">
                <a:solidFill>
                  <a:srgbClr val="202122"/>
                </a:solidFill>
              </a:rPr>
              <a:t> е </a:t>
            </a:r>
            <a:r>
              <a:rPr lang="en-US" dirty="0" err="1">
                <a:solidFill>
                  <a:srgbClr val="202122"/>
                </a:solidFill>
              </a:rPr>
              <a:t>запазен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условот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за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проточна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мрежа</a:t>
            </a:r>
            <a:r>
              <a:rPr lang="en-US" dirty="0">
                <a:solidFill>
                  <a:srgbClr val="202122"/>
                </a:solidFill>
              </a:rPr>
              <a:t>, </a:t>
            </a:r>
            <a:r>
              <a:rPr lang="en-US" dirty="0" err="1">
                <a:solidFill>
                  <a:srgbClr val="202122"/>
                </a:solidFill>
              </a:rPr>
              <a:t>за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разлика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од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другите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два</a:t>
            </a:r>
            <a:r>
              <a:rPr lang="en-US" dirty="0">
                <a:solidFill>
                  <a:srgbClr val="202122"/>
                </a:solidFill>
              </a:rPr>
              <a:t> </a:t>
            </a:r>
            <a:r>
              <a:rPr lang="en-US" dirty="0" err="1">
                <a:solidFill>
                  <a:srgbClr val="202122"/>
                </a:solidFill>
              </a:rPr>
              <a:t>алгоритми</a:t>
            </a:r>
            <a:r>
              <a:rPr lang="en-US" dirty="0">
                <a:solidFill>
                  <a:srgbClr val="202122"/>
                </a:solidFill>
              </a:rPr>
              <a:t>.</a:t>
            </a:r>
          </a:p>
        </p:txBody>
      </p:sp>
      <p:pic>
        <p:nvPicPr>
          <p:cNvPr id="4" name="Graphic 3" descr="{\displaystyle O(V^{2}E)}">
            <a:extLst>
              <a:ext uri="{FF2B5EF4-FFF2-40B4-BE49-F238E27FC236}">
                <a16:creationId xmlns:a16="http://schemas.microsoft.com/office/drawing/2014/main" id="{2F03C033-E8EA-325F-CC6A-2ED3DDB63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7875" y="3338512"/>
            <a:ext cx="47625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3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C008-251C-FDC8-EBE4-229C58106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029"/>
            <a:ext cx="9144000" cy="1138767"/>
          </a:xfrm>
        </p:spPr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Благодарам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на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вниманието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934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Push-relabel алгоритам</vt:lpstr>
      <vt:lpstr>Цел на алгоритмот</vt:lpstr>
      <vt:lpstr>Начин на работа</vt:lpstr>
      <vt:lpstr>Концепти и ознаки</vt:lpstr>
      <vt:lpstr>Чекори на алгоритмот</vt:lpstr>
      <vt:lpstr>Чекори на алгоритмот</vt:lpstr>
      <vt:lpstr>Push и relabel функции</vt:lpstr>
      <vt:lpstr>Терминирање на алгоритмот</vt:lpstr>
      <vt:lpstr>Временска комплексност</vt:lpstr>
      <vt:lpstr>Споредба со Dinitz и Edmond-Karp</vt:lpstr>
      <vt:lpstr>Благодарам на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312</cp:revision>
  <dcterms:created xsi:type="dcterms:W3CDTF">2025-11-21T10:06:08Z</dcterms:created>
  <dcterms:modified xsi:type="dcterms:W3CDTF">2025-11-21T11:08:45Z</dcterms:modified>
</cp:coreProperties>
</file>